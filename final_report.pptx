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12"/>
  </p:normalViewPr>
  <p:slideViewPr>
    <p:cSldViewPr snapToGrid="0" snapToObjects="1">
      <p:cViewPr varScale="1">
        <p:scale>
          <a:sx n="114" d="100"/>
          <a:sy n="114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Hi everyone, I'm Zhuoxuan, and together with my partner Tengyang Deng, we worked on PAWM — a Perspective-Aware World Model for Theory of Mind reasoning. We built this on top of AutoToM, the NeurIPS 2025 spotlight paper on automated Bayesian Inverse Planning for ToM.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Here's the core problem. When an agent is absent from part of a scene — they step out of a room, they miss a conversation — the world keeps going without them. A good Theory of Mind reasoner should track what the agent could have perceived, not what actually happened.</a:t>
            </a:r>
          </a:p>
          <a:p>
            <a:r>
              <a:rPr lang="en-US" altLang="zh-CN"/>
              <a:t>AutoToM formalizes ToM as Bayesian Inverse Planning over six variables: State, Observation, Belief, Action, Utterance, and Goal. It works great on narrative benchmarks like ToMi. But when we tested it on two false-belief benchmarks — BigToM and FANToM — we found a systematic failure: the model collapses the agent's perspective onto the ground-truth state. It essentially forgets the agent was ever absent.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Our hypothesis is simple.</a:t>
            </a:r>
          </a:p>
          <a:p>
            <a:r>
              <a:rPr lang="en-US" altLang="zh-CN" dirty="0"/>
              <a:t>Both narrative and conversational false-belief failures share one root cause — information asymmetry that BIP extracts but never enforces.</a:t>
            </a:r>
          </a:p>
          <a:p>
            <a:r>
              <a:rPr lang="en-US" altLang="zh-CN" dirty="0"/>
              <a:t>If we inject perspective-awareness at the variable level — before BIP runs its inference — a single unified principle should fix both.</a:t>
            </a:r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Formally, for a focal agent </a:t>
            </a:r>
            <a:r>
              <a:rPr lang="en-US" altLang="zh-CN" dirty="0" err="1"/>
              <a:t>i</a:t>
            </a:r>
            <a:r>
              <a:rPr lang="en-US" altLang="zh-CN" dirty="0"/>
              <a:t>, their belief should follows the formula shown on the slide. </a:t>
            </a:r>
          </a:p>
          <a:p>
            <a:r>
              <a:rPr lang="en-US" altLang="zh-CN" dirty="0"/>
              <a:t>In </a:t>
            </a:r>
            <a:r>
              <a:rPr lang="en-US" altLang="zh-CN" dirty="0" err="1"/>
              <a:t>BigToM</a:t>
            </a:r>
            <a:r>
              <a:rPr lang="en-US" altLang="zh-CN" dirty="0"/>
              <a:t>, this means detecting a fork timestep where the agent's state knowledge diverges from the world. PAWM replaces the State variable's possible values with </a:t>
            </a:r>
            <a:r>
              <a:rPr lang="en-US" altLang="zh-CN" dirty="0" err="1"/>
              <a:t>S_fork</a:t>
            </a:r>
            <a:r>
              <a:rPr lang="en-US" altLang="zh-CN" dirty="0"/>
              <a:t> — the last state the agent observed.</a:t>
            </a:r>
          </a:p>
          <a:p>
            <a:r>
              <a:rPr lang="en-US" altLang="zh-CN" dirty="0"/>
              <a:t>In </a:t>
            </a:r>
            <a:r>
              <a:rPr lang="en-US" altLang="zh-CN" dirty="0" err="1"/>
              <a:t>FANToM</a:t>
            </a:r>
            <a:r>
              <a:rPr lang="en-US" altLang="zh-CN" dirty="0"/>
              <a:t>, it means detecting absence intervals in a conversation. PAWM mechanically filters the context to the agent-present window.</a:t>
            </a:r>
          </a:p>
          <a:p>
            <a:r>
              <a:rPr lang="en-US" altLang="zh-CN" dirty="0"/>
              <a:t>Both operations plug into the same BIP pipeline. The inference algorithm is untouched — we just correct the inputs to respect the agent's epistemic horizon. This is a direct application of perspective-taking as a Bayesian constraint, which is exactly the kind of structured social reasoning this course focuses 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On </a:t>
            </a:r>
            <a:r>
              <a:rPr lang="en-US" altLang="zh-CN" dirty="0" err="1"/>
              <a:t>BigToM's</a:t>
            </a:r>
            <a:r>
              <a:rPr lang="en-US" altLang="zh-CN" dirty="0"/>
              <a:t> backward-belief false-belief split — the hardest subset — </a:t>
            </a:r>
            <a:r>
              <a:rPr lang="en-US" altLang="zh-CN" dirty="0" err="1"/>
              <a:t>AutoToM</a:t>
            </a:r>
            <a:r>
              <a:rPr lang="en-US" altLang="zh-CN" dirty="0"/>
              <a:t> baseline gets 76%. PAWM pushes this to 86% — a ten-point improvement. The fix is principled: we detect the fork timestep with a single LLM call, then constrain the State variable. No prompt hacking, no heuristic ensemble.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FANToM is a multi-party conversational benchmark that the original AutoToM paper did not test. </a:t>
            </a:r>
          </a:p>
          <a:p>
            <a:r>
              <a:rPr lang="en-US" altLang="zh-CN"/>
              <a:t>On first-order inaccessible questions, AutoToM baseline sits around 50%. Our mechanical perspective filter — which deterministically keeps only the turns between the focal agent's first and last utterance, plus departure-marker detection for phrases like 'brb' or 'catch you later' — brings it to 60%. Also ten points. Same principle, different modality.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But </a:t>
            </a:r>
            <a:r>
              <a:rPr lang="en-US" altLang="zh-CN" dirty="0" err="1"/>
              <a:t>FANToM</a:t>
            </a:r>
            <a:r>
              <a:rPr lang="en-US" altLang="zh-CN" dirty="0"/>
              <a:t> also revealed a deeper structural finding. The remaining errors are cases where our filter correctly removes the absent-time content — yet BIP still predicts 'believes X' rather than 'unaware'. Why?</a:t>
            </a:r>
          </a:p>
          <a:p>
            <a:r>
              <a:rPr lang="en-US" altLang="zh-CN" dirty="0"/>
              <a:t>Because the Utterance-to-Belief likelihood in </a:t>
            </a:r>
            <a:r>
              <a:rPr lang="en-US" altLang="zh-CN" dirty="0" err="1"/>
              <a:t>AutoToM</a:t>
            </a:r>
            <a:r>
              <a:rPr lang="en-US" altLang="zh-CN" dirty="0"/>
              <a:t> cannot discriminate between 'unaware' and 'believes X' when the agent's post-arrival utterances don't reference the filtered content. It ties at 0.5 / 0.5.</a:t>
            </a:r>
          </a:p>
          <a:p>
            <a:r>
              <a:rPr lang="en-US" altLang="zh-CN" dirty="0"/>
              <a:t>And importantly, we found that this may have some connections with the </a:t>
            </a:r>
            <a:r>
              <a:rPr lang="en-US" altLang="zh-CN" dirty="0" err="1"/>
              <a:t>bip</a:t>
            </a:r>
            <a:r>
              <a:rPr lang="en-US" altLang="zh-CN" dirty="0"/>
              <a:t> </a:t>
            </a:r>
            <a:r>
              <a:rPr lang="en-US" altLang="zh-CN" dirty="0" err="1"/>
              <a:t>stucturural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For the final report, we plan to do some extend work to deal with this problem. Such as PAWM to second-order </a:t>
            </a:r>
            <a:r>
              <a:rPr lang="en-US" altLang="zh-CN" dirty="0" err="1"/>
              <a:t>FANToM</a:t>
            </a:r>
            <a:r>
              <a:rPr lang="en-US" altLang="zh-CN" dirty="0"/>
              <a:t> questions, and propose an epistemic-prior correction to the Belief variable that penalizes concrete-content beliefs when the filtered story is empty on that content. Or other</a:t>
            </a:r>
            <a:r>
              <a:rPr lang="zh-CN" altLang="en-US" dirty="0"/>
              <a:t> </a:t>
            </a:r>
            <a:r>
              <a:rPr lang="en-US" altLang="zh-CN" dirty="0"/>
              <a:t>directions.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This project connects directly to three course themes: Bayesian Theory of Mind as the inference framework; false-belief tasks as the evaluation lens; and perspective-taking as the computational principle we operationalize.</a:t>
            </a:r>
          </a:p>
          <a:p>
            <a:r>
              <a:rPr lang="en-US" altLang="zh-CN"/>
              <a:t>The takeaway: you don't need to change the inference algorithm to fix ToM failures. You need to change what the algorithm gets to see. Thank you!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4805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1097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98E04"/>
                </a:solidFill>
                <a:latin typeface="Calibri"/>
              </a:rPr>
              <a:t>MACHINE SOCIAL INTELLIGENCE  ·  SPOTLIGHT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 dirty="0">
                <a:solidFill>
                  <a:srgbClr val="FFFFFF"/>
                </a:solidFill>
                <a:latin typeface="Calibri"/>
              </a:rPr>
              <a:t>PAWM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 dirty="0">
                <a:solidFill>
                  <a:srgbClr val="FFFFFF"/>
                </a:solidFill>
                <a:latin typeface="Calibri"/>
              </a:rPr>
              <a:t>A Perspective-Aware World Model</a:t>
            </a:r>
          </a:p>
          <a:p>
            <a:pPr algn="l"/>
            <a:r>
              <a:rPr sz="3400" b="0" i="0" dirty="0">
                <a:solidFill>
                  <a:srgbClr val="FFFFFF"/>
                </a:solidFill>
                <a:latin typeface="Calibri"/>
              </a:rPr>
              <a:t>for Theory of Mind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365D"/>
                </a:solidFill>
                <a:latin typeface="Calibri"/>
              </a:rPr>
              <a:t>Zhuoxuan Lyu  ·  Tengyang Deng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E6E6E"/>
                </a:solidFill>
                <a:latin typeface="Calibri"/>
              </a:rPr>
              <a:t>Built on AutoToM  (Zhang et al., NeurIPS 2025 Spotlight)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  <a:latin typeface="Calibri"/>
              </a:rPr>
              <a:t>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105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85855" cy="32004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5855" cy="18288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PAWM  ·  Lyu &amp; Deng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2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8E04"/>
                </a:solidFill>
                <a:latin typeface="Calibri"/>
              </a:rPr>
              <a:t>§ 1 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365D"/>
                </a:solidFill>
                <a:latin typeface="Calibri"/>
              </a:rPr>
              <a:t>When an agent is absent, the world keeps going without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2575"/>
            <a:ext cx="5486400" cy="219456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98E04"/>
                </a:solidFill>
                <a:latin typeface="Calibri"/>
              </a:rPr>
              <a:t>NARRATIVE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365D"/>
                </a:solidFill>
                <a:latin typeface="Calibri"/>
              </a:rPr>
              <a:t>Sally-Anne task (BigToM)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Sally leaves the room.  The marble is moved.</a:t>
            </a:r>
          </a:p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Where will Sally look for it when she returns?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287" y="1569085"/>
            <a:ext cx="5486400" cy="219456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6459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98E04"/>
                </a:solidFill>
                <a:latin typeface="Calibri"/>
              </a:rP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828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365D"/>
                </a:solidFill>
                <a:latin typeface="Calibri"/>
              </a:rPr>
              <a:t>FANToM multi-party dialogue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8600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Amber joins the group late.</a:t>
            </a:r>
          </a:p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Does she know what the others discussed before?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31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365D"/>
                </a:solidFill>
                <a:latin typeface="Calibri"/>
              </a:rPr>
              <a:t>Prior work  —  AutoToM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97680"/>
            <a:ext cx="54864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8E04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Bayesian Inverse Planning over six variables: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8E04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   ⟨ State, Observation, Belief, Action, Utterance, Goal ⟩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8E04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Strong on narrative ToMi — but never tested on FANToM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3931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B51F2A"/>
                </a:solidFill>
                <a:latin typeface="Calibri"/>
              </a:rPr>
              <a:t>Our observation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297680"/>
            <a:ext cx="54864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B51F2A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On false-belief splits, BIP collapses the agent's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B51F2A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perspective onto the ground-truth state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B51F2A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→  +10 pp headroom for a principled fix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85855" cy="32004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5855" cy="18288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PAWM  ·  Lyu &amp; Deng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3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8E04"/>
                </a:solidFill>
                <a:latin typeface="Calibri"/>
              </a:rPr>
              <a:t>§ 2  HYPOTHESES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365D"/>
                </a:solidFill>
                <a:latin typeface="Calibri"/>
              </a:rPr>
              <a:t>One principle underlies both failures.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11201400" cy="192024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109728" cy="19202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A365D"/>
                </a:solidFill>
                <a:latin typeface="Calibri"/>
              </a:rPr>
              <a:t>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9601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C1C1C"/>
                </a:solidFill>
                <a:latin typeface="Calibri"/>
              </a:rPr>
              <a:t>Narrative and conversational false-belief failures share one root cause —</a:t>
            </a:r>
          </a:p>
          <a:p>
            <a:pPr algn="l"/>
            <a:r>
              <a:rPr sz="2000" b="0" i="0">
                <a:solidFill>
                  <a:srgbClr val="1C1C1C"/>
                </a:solidFill>
                <a:latin typeface="Calibri"/>
              </a:rPr>
              <a:t>information asymmetry that BIP extracts but never enforces.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86200"/>
            <a:ext cx="11201400" cy="192024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109728" cy="1920240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D98E04"/>
                </a:solidFill>
                <a:latin typeface="Calibri"/>
              </a:rPr>
              <a:t>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114800"/>
            <a:ext cx="9601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1C1C1C"/>
                </a:solidFill>
                <a:latin typeface="Calibri"/>
              </a:rPr>
              <a:t>A single unified perspective-correction step applied before BIP inference</a:t>
            </a:r>
          </a:p>
          <a:p>
            <a:pPr algn="l"/>
            <a:r>
              <a:rPr sz="2000" b="0" i="0">
                <a:solidFill>
                  <a:srgbClr val="1C1C1C"/>
                </a:solidFill>
                <a:latin typeface="Calibri"/>
              </a:rPr>
              <a:t>fixes both BigToM and FANToM — no change to the inference algorithm.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85855" cy="32004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5855" cy="18288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PAWM  ·  Lyu &amp; Deng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4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8E04"/>
                </a:solidFill>
                <a:latin typeface="Calibri"/>
              </a:rPr>
              <a:t>§ 3  FORMALIZATION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365D"/>
                </a:solidFill>
                <a:latin typeface="Calibri"/>
              </a:rPr>
              <a:t>Perspective as a Bayesian constraint.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201400" cy="109728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11201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1A365D"/>
                </a:solidFill>
                <a:latin typeface="Cambria Math"/>
              </a:rPr>
              <a:t>B_i(s)   ∝   P( s  |  o_{i, 1:t}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11201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condition agent i's belief on only what i could actually 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365D"/>
                </a:solidFill>
                <a:latin typeface="Calibri"/>
              </a:rPr>
              <a:t>Narrative  (BigToM)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48640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98E04"/>
                </a:solidFill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Detect fork timestep (agent stops observing)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98E04"/>
                </a:solidFill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Replace  State.possible_values  with  S_fork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98E04"/>
                </a:solidFill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(the last state the agent observed)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788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365D"/>
                </a:solidFill>
                <a:latin typeface="Calibri"/>
              </a:rPr>
              <a:t>Conversation  (FANToM)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200400"/>
            <a:ext cx="548640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98E04"/>
                </a:solidFill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Detect agent absence intervals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98E04"/>
                </a:solidFill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Keep turns in  [first_utt, last_utt]  window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D98E04"/>
                </a:solidFill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Departure-marker detection  (brb, catch you later…)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2743200" cy="640080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bIns="25400" rtlCol="0" anchor="ctr"/>
          <a:lstStyle/>
          <a:p>
            <a:pPr algn="ctr"/>
            <a:r>
              <a:rPr sz="1400" b="1">
                <a:solidFill>
                  <a:srgbClr val="1C1C1C"/>
                </a:solidFill>
              </a:rPr>
              <a:t>Story  + 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5212080"/>
            <a:ext cx="2743200" cy="640080"/>
          </a:xfrm>
          <a:prstGeom prst="roundRect">
            <a:avLst/>
          </a:prstGeom>
          <a:solidFill>
            <a:srgbClr val="D98E04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bIns="25400" rtlCol="0" anchor="ctr"/>
          <a:lstStyle/>
          <a:p>
            <a:pPr algn="ctr"/>
            <a:r>
              <a:rPr sz="1400" b="1">
                <a:solidFill>
                  <a:srgbClr val="1C1C1C"/>
                </a:solidFill>
              </a:rPr>
              <a:t>PAWM  (variable
correction)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212080"/>
            <a:ext cx="2743200" cy="640080"/>
          </a:xfrm>
          <a:prstGeom prst="roundRect">
            <a:avLst/>
          </a:prstGeom>
          <a:solidFill>
            <a:srgbClr val="1A365D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bIns="254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BIP  (unchanged)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5212080"/>
            <a:ext cx="1280160" cy="640080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bIns="25400" rtlCol="0" anchor="ctr"/>
          <a:lstStyle/>
          <a:p>
            <a:pPr algn="ctr"/>
            <a:r>
              <a:rPr sz="1400" b="1">
                <a:solidFill>
                  <a:srgbClr val="1C1C1C"/>
                </a:solidFill>
              </a:rPr>
              <a:t>Answer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337560" y="5458968"/>
            <a:ext cx="411480" cy="164592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6629400" y="5458968"/>
            <a:ext cx="411480" cy="164592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9921240" y="5458968"/>
            <a:ext cx="411480" cy="164592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E6E6E"/>
                </a:solidFill>
                <a:latin typeface="Calibri"/>
              </a:rPr>
              <a:t>The inference algorithm is untouched — we correct its inputs.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85855" cy="32004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5855" cy="18288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PAWM  ·  Lyu &amp; Deng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5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8E04"/>
                </a:solidFill>
                <a:latin typeface="Calibri"/>
              </a:rPr>
              <a:t>§ 4A  RESULT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365D"/>
                </a:solidFill>
                <a:latin typeface="Calibri"/>
              </a:rPr>
              <a:t>BigToM  ·  backward-belief false-belief (hardest split)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86400"/>
            <a:ext cx="5303520" cy="22860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0" y="3749039"/>
            <a:ext cx="1280160" cy="173736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324612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1C1C1C"/>
                </a:solidFill>
                <a:latin typeface="Calibri"/>
              </a:rPr>
              <a:t>76%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5778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E6E6E"/>
                </a:solidFill>
                <a:latin typeface="Calibri"/>
              </a:rPr>
              <a:t>AutoToM</a:t>
            </a:r>
          </a:p>
          <a:p>
            <a:pPr algn="ctr"/>
            <a:r>
              <a:rPr sz="1300" b="0" i="0">
                <a:solidFill>
                  <a:srgbClr val="6E6E6E"/>
                </a:solidFill>
                <a:latin typeface="Calibri"/>
              </a:rPr>
              <a:t>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520440"/>
            <a:ext cx="1280160" cy="19659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301752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1A365D"/>
                </a:solidFill>
                <a:latin typeface="Calibri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5778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365D"/>
                </a:solidFill>
                <a:latin typeface="Calibri"/>
              </a:rPr>
              <a:t>PAWM</a:t>
            </a:r>
          </a:p>
          <a:p>
            <a:pPr algn="ctr"/>
            <a:r>
              <a:rPr sz="1300" b="1" i="0">
                <a:solidFill>
                  <a:srgbClr val="1A365D"/>
                </a:solidFill>
                <a:latin typeface="Calibri"/>
              </a:rPr>
              <a:t>(ours)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15468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B51F2A"/>
                </a:solidFill>
                <a:latin typeface="Calibri"/>
              </a:rPr>
              <a:t>▲  +10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365D"/>
                </a:solidFill>
                <a:latin typeface="Calibri"/>
              </a:rPr>
              <a:t>Mechanism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965960"/>
            <a:ext cx="393192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8E04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One LLM call detects the fork timestep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8E04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State variable is then constrained to S_fork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8E04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No prompt hacking, no heuristic ensemble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9319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98E04"/>
                </a:solidFill>
                <a:latin typeface="Calibri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34340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1C1C"/>
                </a:solidFill>
                <a:latin typeface="Calibri"/>
              </a:rPr>
              <a:t>A single structural fix — applied at the variable level — recovers the perspective that BIP otherwise collapses.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85855" cy="32004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5855" cy="18288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PAWM  ·  Lyu &amp; Deng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6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8E04"/>
                </a:solidFill>
                <a:latin typeface="Calibri"/>
              </a:rPr>
              <a:t>§ 4B  RESULT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365D"/>
                </a:solidFill>
                <a:latin typeface="Calibri"/>
              </a:rPr>
              <a:t>FANToM-1st inaccessible  ·  new benchmark for AutoToM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E6E6E"/>
                </a:solidFill>
                <a:latin typeface="Calibri"/>
              </a:rPr>
              <a:t>Not tested in the original AutoToM paper — we are the first to evaluate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5486400"/>
            <a:ext cx="5303520" cy="22860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4343400"/>
            <a:ext cx="1280160" cy="1143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384048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1C1C1C"/>
                </a:solidFill>
                <a:latin typeface="Calibri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5778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E6E6E"/>
                </a:solidFill>
                <a:latin typeface="Calibri"/>
              </a:rPr>
              <a:t>AutoToM</a:t>
            </a:r>
          </a:p>
          <a:p>
            <a:pPr algn="ctr"/>
            <a:r>
              <a:rPr sz="1300" b="0" i="0">
                <a:solidFill>
                  <a:srgbClr val="6E6E6E"/>
                </a:solidFill>
                <a:latin typeface="Calibri"/>
              </a:rPr>
              <a:t>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4114800"/>
            <a:ext cx="1280160" cy="13716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361188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1A365D"/>
                </a:solidFill>
                <a:latin typeface="Calibri"/>
              </a:rP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5778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A365D"/>
                </a:solidFill>
                <a:latin typeface="Calibri"/>
              </a:rPr>
              <a:t>PAWM</a:t>
            </a:r>
          </a:p>
          <a:p>
            <a:pPr algn="ctr"/>
            <a:r>
              <a:rPr sz="1300" b="1" i="0">
                <a:solidFill>
                  <a:srgbClr val="1A365D"/>
                </a:solidFill>
                <a:latin typeface="Calibri"/>
              </a:rPr>
              <a:t>(ours)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47472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B51F2A"/>
                </a:solidFill>
                <a:latin typeface="Calibri"/>
              </a:rPr>
              <a:t>▲  +10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365D"/>
                </a:solidFill>
                <a:latin typeface="Calibri"/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194560"/>
            <a:ext cx="39319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8E04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Deterministic agent-present-window filter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8E04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Departure-marker detection  (brb, catch you later…)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D98E04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No LLM needed in the filter — fully mechanical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1605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98E04"/>
                </a:solidFill>
                <a:latin typeface="Calibri"/>
              </a:rPr>
              <a:t>Same 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57200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C1C1C"/>
                </a:solidFill>
                <a:latin typeface="Calibri"/>
              </a:rPr>
              <a:t>Different modality — narrative vs. multi-party conversation — but the perspective-correction principle transfers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85855" cy="32004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5855" cy="18288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PAWM  ·  Lyu &amp; Deng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7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8E04"/>
                </a:solidFill>
                <a:latin typeface="Calibri"/>
              </a:rPr>
              <a:t>§ 5  DIAGNOSIS  &amp; 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365D"/>
                </a:solidFill>
                <a:latin typeface="Calibri"/>
              </a:rPr>
              <a:t>What the remaining errors tell 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1201400" cy="192024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109728" cy="1920240"/>
          </a:xfrm>
          <a:prstGeom prst="rect">
            <a:avLst/>
          </a:prstGeom>
          <a:solidFill>
            <a:srgbClr val="B5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51F2A"/>
                </a:solidFill>
                <a:latin typeface="Calibri"/>
              </a:rPr>
              <a:t>STRUCTURAL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1C1C"/>
                </a:solidFill>
                <a:latin typeface="Calibri"/>
              </a:rPr>
              <a:t>After filtering removes absent-time content, BIP still predicts 'believes X'.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40280"/>
            <a:ext cx="105156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B51F2A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The Utterance → Belief likelihood ties at 0.5 / 0.5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B51F2A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Agent's post-arrival utterances don't reference filtered content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B51F2A"/>
                </a:solidFill>
              </a:rPr>
              <a:t>▪  </a:t>
            </a:r>
            <a:r>
              <a:rPr sz="1400">
                <a:solidFill>
                  <a:srgbClr val="1C1C1C"/>
                </a:solidFill>
                <a:latin typeface="Calibri"/>
              </a:rPr>
              <a:t>A preprocessor cannot fix a likelihood that lacks discrimination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365D"/>
                </a:solidFill>
                <a:latin typeface="Calibri"/>
              </a:rPr>
              <a:t>Plans for the final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23360"/>
            <a:ext cx="1115568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D98E04"/>
                </a:solidFill>
              </a:rPr>
              <a:t>▪  </a:t>
            </a:r>
            <a:r>
              <a:rPr sz="1600">
                <a:solidFill>
                  <a:srgbClr val="1C1C1C"/>
                </a:solidFill>
                <a:latin typeface="Calibri"/>
              </a:rPr>
              <a:t>Extend PAWM to second-order FANToM questions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D98E04"/>
                </a:solidFill>
              </a:rPr>
              <a:t>▪  </a:t>
            </a:r>
            <a:r>
              <a:rPr sz="1600">
                <a:solidFill>
                  <a:srgbClr val="1C1C1C"/>
                </a:solidFill>
                <a:latin typeface="Calibri"/>
              </a:rPr>
              <a:t>Epistemic-prior correction on the Belief variable (penalize concrete-content beliefs when filtered story lacks evidence)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D98E04"/>
                </a:solidFill>
              </a:rPr>
              <a:t>▪  </a:t>
            </a:r>
            <a:r>
              <a:rPr sz="1600">
                <a:solidFill>
                  <a:srgbClr val="1C1C1C"/>
                </a:solidFill>
                <a:latin typeface="Calibri"/>
              </a:rPr>
              <a:t>Error typology:  filter-solved  vs.  BIP-limited cases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D98E04"/>
                </a:solidFill>
              </a:rPr>
              <a:t>▪  </a:t>
            </a:r>
            <a:r>
              <a:rPr sz="1600">
                <a:solidFill>
                  <a:srgbClr val="1C1C1C"/>
                </a:solidFill>
                <a:latin typeface="Calibri"/>
              </a:rPr>
              <a:t>Regression test on BigToM bbfb to confirm 86% is preserved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1185855" cy="32004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85855" cy="18288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PAWM  ·  Lyu &amp; Deng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1052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E6E"/>
                </a:solidFill>
                <a:latin typeface="Calibri"/>
              </a:rPr>
              <a:t>8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8E04"/>
                </a:solidFill>
                <a:latin typeface="Calibri"/>
              </a:rPr>
              <a:t>§ 6  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365D"/>
                </a:solidFill>
                <a:latin typeface="Calibri"/>
              </a:rPr>
              <a:t>Course connections &amp; takeaway.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11880" cy="164592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11880" cy="1097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365D"/>
                </a:solidFill>
                <a:latin typeface="Calibri"/>
              </a:rPr>
              <a:t>Bayesian Theory of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E6E6E"/>
                </a:solidFill>
                <a:latin typeface="Calibri"/>
              </a:rPr>
              <a:t>inference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514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 i="0">
                <a:solidFill>
                  <a:srgbClr val="D98E04"/>
                </a:solidFill>
                <a:latin typeface="Calibri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417320"/>
            <a:ext cx="3611880" cy="164592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8536" y="1417320"/>
            <a:ext cx="3611880" cy="1097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17136" y="169164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365D"/>
                </a:solidFill>
                <a:latin typeface="Calibri"/>
              </a:rPr>
              <a:t>False-belief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24028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E6E6E"/>
                </a:solidFill>
                <a:latin typeface="Calibri"/>
              </a:rPr>
              <a:t>evaluation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2514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 i="0">
                <a:solidFill>
                  <a:srgbClr val="D98E04"/>
                </a:solidFill>
                <a:latin typeface="Calibri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1417320"/>
            <a:ext cx="3611880" cy="1645920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2" y="1417320"/>
            <a:ext cx="3611880" cy="1097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69164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365D"/>
                </a:solidFill>
                <a:latin typeface="Calibri"/>
              </a:rPr>
              <a:t>Perspective-taking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24028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E6E6E"/>
                </a:solidFill>
                <a:latin typeface="Calibri"/>
              </a:rPr>
              <a:t>computational principle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4512" y="2514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 i="0">
                <a:solidFill>
                  <a:srgbClr val="D98E04"/>
                </a:solidFill>
                <a:latin typeface="Calibri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57600"/>
            <a:ext cx="11201400" cy="21031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794760"/>
            <a:ext cx="11201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D98E04"/>
                </a:solidFill>
                <a:latin typeface="Calibri"/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60520"/>
            <a:ext cx="11201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Don't change the inference algorithm.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0600"/>
            <a:ext cx="11201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D98E04"/>
                </a:solidFill>
                <a:latin typeface="Calibri"/>
              </a:rPr>
              <a:t>Change what the algorithm gets to see.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1201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6E6E6E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1400</Words>
  <Application>Microsoft Macintosh PowerPoint</Application>
  <PresentationFormat>宽屏</PresentationFormat>
  <Paragraphs>142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Zhuoxuan Lyu</cp:lastModifiedBy>
  <cp:revision>5</cp:revision>
  <cp:lastPrinted>2026-04-23T18:39:45Z</cp:lastPrinted>
  <dcterms:created xsi:type="dcterms:W3CDTF">2026-04-23T03:23:00Z</dcterms:created>
  <dcterms:modified xsi:type="dcterms:W3CDTF">2026-04-23T19:00:50Z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13D0174E0D998462C383E96989782E93_42</vt:lpwstr>
  </property>
  <property fmtid="{D5CDD505-2E9C-101B-9397-08002B2CF9AE}" pid="3" name="KSOProductBuildVer">
    <vt:lpwstr>2052-12.1.25195.25195</vt:lpwstr>
  </property>
</Properties>
</file>